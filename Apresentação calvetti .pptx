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A9AA0">
              <a:alpha val="15000"/>
            </a:srgbClr>
          </a:solidFill>
          <a:ln w="12700">
            <a:solidFill>
              <a:srgbClr val="1A9AA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SÃO JUDAS TADEU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Software  |  Sistemas Automatizados  |  2026/1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Automatizado de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Estacionamento Inteligente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Controlador Lógico Programável (CLP)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657600" cy="36576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Robson Calvetti  |  Entrega: 10 de junho de 2026  |  Tema 6.2</a:t>
            </a:r>
            <a:endParaRPr lang="en-US" sz="1100" dirty="0"/>
          </a:p>
        </p:txBody>
      </p:sp>
      <p:sp>
        <p:nvSpPr>
          <p:cNvPr id="11" name="NamesBox"/>
          <p:cNvSpPr/>
          <p:nvPr/>
        </p:nvSpPr>
        <p:spPr>
          <a:xfrm>
            <a:off x="457200" y="35660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850" b="1" dirty="0">
                <a:solidFill>
                  <a:srgbClr val="1A9AA0"/>
                </a:solidFill>
                <a:latin typeface="Arial" pitchFamily="34" charset="0"/>
              </a:rPr>
              <a:t>INTEGRANTES DO GRUPO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Gabriel Tondin de Oliveira  |  RA: 82512829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Lucas Ferreira Ribeiro  |  RA: 825110244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Vinicius Aparecido Lucas Demazzi  |  RA: 82516558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Gustavo Castello de França  |  RA: 825115601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Rúbia Benites Baldenebro  |  RA: 82512803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Maria Eduarda Taner Tomanik Pereira  |  RA: 825156588</a:t>
            </a:r>
          </a:p>
          <a:p>
            <a:pPr algn="l" indent="0" marL="0">
              <a:buNone/>
            </a:pPr>
            <a:r>
              <a:rPr lang="pt-BR" sz="900" dirty="0">
                <a:solidFill>
                  <a:srgbClr val="D6EEF0"/>
                </a:solidFill>
                <a:latin typeface="Arial" pitchFamily="34" charset="0"/>
              </a:rPr>
              <a:t>Rafael Scapin Guijarro  |  RA: 825146430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AccentStripe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4" name="TitleText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2800" b="1" dirty="0">
                <a:solidFill>
                  <a:srgbClr val="FFFFFF"/>
                </a:solidFill>
                <a:latin typeface="Arial" pitchFamily="34" charset="0"/>
              </a:rPr>
              <a:t>Metodologia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400" b="1" dirty="0">
                <a:solidFill>
                  <a:srgbClr val="1A9AA0"/>
                </a:solidFill>
                <a:latin typeface="Arial" pitchFamily="34" charset="0"/>
              </a:rPr>
              <a:t>Como o sistema foi desenvolvido e validado</a:t>
            </a:r>
          </a:p>
        </p:txBody>
      </p:sp>
      <p:sp>
        <p:nvSpPr>
          <p:cNvPr id="10" name="Card1Bg"/>
          <p:cNvSpPr/>
          <p:nvPr/>
        </p:nvSpPr>
        <p:spPr>
          <a:xfrm>
            <a:off x="365760" y="1370520"/>
            <a:ext cx="402336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Card1Accent"/>
          <p:cNvSpPr/>
          <p:nvPr/>
        </p:nvSpPr>
        <p:spPr>
          <a:xfrm>
            <a:off x="365760" y="1370520"/>
            <a:ext cx="73152" cy="109728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12" name="Card1Step"/>
          <p:cNvSpPr/>
          <p:nvPr/>
        </p:nvSpPr>
        <p:spPr>
          <a:xfrm>
            <a:off x="548640" y="1406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rgbClr val="1B4F72"/>
                </a:solidFill>
                <a:latin typeface="Arial" pitchFamily="34" charset="0"/>
              </a:rPr>
              <a:t>1. Levantamento de Requisitos</a:t>
            </a:r>
          </a:p>
        </p:txBody>
      </p:sp>
      <p:sp>
        <p:nvSpPr>
          <p:cNvPr id="13" name="Card1Body"/>
          <p:cNvSpPr/>
          <p:nvPr/>
        </p:nvSpPr>
        <p:spPr>
          <a:xfrm>
            <a:off x="548640" y="170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000" dirty="0">
                <a:solidFill>
                  <a:srgbClr val="566573"/>
                </a:solidFill>
                <a:latin typeface="Arial" pitchFamily="34" charset="0"/>
              </a:rPr>
              <a:t>Definição das entradas, saídas e regras de controle do estacionamento com capacidade para 10 vagas</a:t>
            </a:r>
          </a:p>
        </p:txBody>
      </p:sp>
      <p:sp>
        <p:nvSpPr>
          <p:cNvPr id="20" name="Card2Bg"/>
          <p:cNvSpPr/>
          <p:nvPr/>
        </p:nvSpPr>
        <p:spPr>
          <a:xfrm>
            <a:off x="4754880" y="1370520"/>
            <a:ext cx="402336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Card2Accent"/>
          <p:cNvSpPr/>
          <p:nvPr/>
        </p:nvSpPr>
        <p:spPr>
          <a:xfrm>
            <a:off x="4754880" y="1370520"/>
            <a:ext cx="73152" cy="109728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22" name="Card2Step"/>
          <p:cNvSpPr/>
          <p:nvPr/>
        </p:nvSpPr>
        <p:spPr>
          <a:xfrm>
            <a:off x="4937760" y="1406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rgbClr val="1B4F72"/>
                </a:solidFill>
                <a:latin typeface="Arial" pitchFamily="34" charset="0"/>
              </a:rPr>
              <a:t>2. Modelagem em Ladder</a:t>
            </a:r>
          </a:p>
        </p:txBody>
      </p:sp>
      <p:sp>
        <p:nvSpPr>
          <p:cNvPr id="23" name="Card2Body"/>
          <p:cNvSpPr/>
          <p:nvPr/>
        </p:nvSpPr>
        <p:spPr>
          <a:xfrm>
            <a:off x="4937760" y="170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000" dirty="0">
                <a:solidFill>
                  <a:srgbClr val="566573"/>
                </a:solidFill>
                <a:latin typeface="Arial" pitchFamily="34" charset="0"/>
              </a:rPr>
              <a:t>Criação dos 4 rungs com contadores CTU, comparadores e flags SET/RESET no PLC Simulator Online</a:t>
            </a:r>
          </a:p>
        </p:txBody>
      </p:sp>
      <p:sp>
        <p:nvSpPr>
          <p:cNvPr id="30" name="Card3Bg"/>
          <p:cNvSpPr/>
          <p:nvPr/>
        </p:nvSpPr>
        <p:spPr>
          <a:xfrm>
            <a:off x="365760" y="2606040"/>
            <a:ext cx="402336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Card3Accent"/>
          <p:cNvSpPr/>
          <p:nvPr/>
        </p:nvSpPr>
        <p:spPr>
          <a:xfrm>
            <a:off x="365760" y="2606040"/>
            <a:ext cx="73152" cy="109728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32" name="Card3Step"/>
          <p:cNvSpPr/>
          <p:nvPr/>
        </p:nvSpPr>
        <p:spPr>
          <a:xfrm>
            <a:off x="548640" y="2642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rgbClr val="1B4F72"/>
                </a:solidFill>
                <a:latin typeface="Arial" pitchFamily="34" charset="0"/>
              </a:rPr>
              <a:t>3. Simulação e Testes</a:t>
            </a:r>
          </a:p>
        </p:txBody>
      </p:sp>
      <p:sp>
        <p:nvSpPr>
          <p:cNvPr id="33" name="Card3Body"/>
          <p:cNvSpPr/>
          <p:nvPr/>
        </p:nvSpPr>
        <p:spPr>
          <a:xfrm>
            <a:off x="548640" y="2935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000" dirty="0">
                <a:solidFill>
                  <a:srgbClr val="566573"/>
                </a:solidFill>
                <a:latin typeface="Arial" pitchFamily="34" charset="0"/>
              </a:rPr>
              <a:t>Execução de 3 cenários: operação normal, estacionamento lotado e liberação de vaga</a:t>
            </a:r>
          </a:p>
        </p:txBody>
      </p:sp>
      <p:sp>
        <p:nvSpPr>
          <p:cNvPr id="40" name="Card4Bg"/>
          <p:cNvSpPr/>
          <p:nvPr/>
        </p:nvSpPr>
        <p:spPr>
          <a:xfrm>
            <a:off x="4754880" y="2606040"/>
            <a:ext cx="4023360" cy="1097280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1" name="Card4Accent"/>
          <p:cNvSpPr/>
          <p:nvPr/>
        </p:nvSpPr>
        <p:spPr>
          <a:xfrm>
            <a:off x="4754880" y="2606040"/>
            <a:ext cx="73152" cy="109728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42" name="Card4Step"/>
          <p:cNvSpPr/>
          <p:nvPr/>
        </p:nvSpPr>
        <p:spPr>
          <a:xfrm>
            <a:off x="4937760" y="2642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200" b="1" dirty="0">
                <a:solidFill>
                  <a:srgbClr val="1B4F72"/>
                </a:solidFill>
                <a:latin typeface="Arial" pitchFamily="34" charset="0"/>
              </a:rPr>
              <a:t>4. Validação dos Resultados</a:t>
            </a:r>
          </a:p>
        </p:txBody>
      </p:sp>
      <p:sp>
        <p:nvSpPr>
          <p:cNvPr id="43" name="Card4Body"/>
          <p:cNvSpPr/>
          <p:nvPr/>
        </p:nvSpPr>
        <p:spPr>
          <a:xfrm>
            <a:off x="4937760" y="2935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000" dirty="0">
                <a:solidFill>
                  <a:srgbClr val="566573"/>
                </a:solidFill>
                <a:latin typeface="Arial" pitchFamily="34" charset="0"/>
              </a:rPr>
              <a:t>Verificação do comportamento esperado em 100% dos cenários — conformidade total com os requisitos</a:t>
            </a:r>
          </a:p>
        </p:txBody>
      </p:sp>
      <p:sp>
        <p:nvSpPr>
          <p:cNvPr id="50" name="Footer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100" b="1" dirty="0">
                <a:solidFill>
                  <a:srgbClr val="1A9AA0"/>
                </a:solidFill>
                <a:latin typeface="Arial" pitchFamily="34" charset="0"/>
              </a:rPr>
              <a:t>Ferramenta utilizada: PLC Simulator Online (plcsimulator.online)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D6EEF0"/>
          </a:solidFill>
          <a:ln w="6350">
            <a:solidFill>
              <a:srgbClr val="1A9A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Estacionamento com capacidade de 10 vagas — controle automático de entrada, saída e disponibilidade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43200" cy="1234440"/>
          </a:xfrm>
          <a:prstGeom prst="rect">
            <a:avLst/>
          </a:prstGeom>
          <a:solidFill>
            <a:srgbClr val="EAF4F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121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542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veículo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entrada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743200" cy="1234440"/>
          </a:xfrm>
          <a:prstGeom prst="rect">
            <a:avLst/>
          </a:prstGeom>
          <a:solidFill>
            <a:srgbClr val="EAF4F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2121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42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veículo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saída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743200" cy="1234440"/>
          </a:xfrm>
          <a:prstGeom prst="rect">
            <a:avLst/>
          </a:prstGeom>
          <a:solidFill>
            <a:srgbClr val="E9F7EF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2121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Portão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542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quando há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disponíveis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743200" cy="1234440"/>
          </a:xfrm>
          <a:prstGeom prst="rect">
            <a:avLst/>
          </a:prstGeom>
          <a:solidFill>
            <a:srgbClr val="E9F7EF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3584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Portão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005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ao detectar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veículo saindo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291840"/>
            <a:ext cx="2743200" cy="1234440"/>
          </a:xfrm>
          <a:prstGeom prst="rect">
            <a:avLst/>
          </a:prstGeom>
          <a:solidFill>
            <a:srgbClr val="FEF9E7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0" y="3584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4005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vagas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ocupadas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291840"/>
            <a:ext cx="2743200" cy="1234440"/>
          </a:xfrm>
          <a:prstGeom prst="rect">
            <a:avLst/>
          </a:prstGeom>
          <a:solidFill>
            <a:srgbClr val="E9F7EF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3584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Lotado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4005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entrada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cheio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PLC Simulator Online (plcsimulator.online)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 – 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 presença de veículo na 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sensorSaida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 – 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Detecta presença de veículo na saída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portaoEntrada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 – Saída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Aciona motor do portão de 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portaoSaida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 – Saída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Aciona motor do portão de saída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sistemaLotado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 – Interno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Flag: estacionamento na capacidade máxima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contadorEntrada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 (CTU)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veículos que entraram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contadorSaida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 (CTU)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veículos que saíram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totalVagas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Capacidade máxima = 10 (constante)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vagasOcupadas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Vagas em uso (entrada – saída)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Controle Ladder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1600200"/>
          </a:xfrm>
          <a:prstGeom prst="rect">
            <a:avLst/>
          </a:prstGeom>
          <a:solidFill>
            <a:srgbClr val="EAF4F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73152" cy="1600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1 — Abertura da Entrada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3441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[sensorEntrada] —| |— [sistemaLotado] —|/|— ( portaoEntrada ) + ( CTU.CU 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portão APENAS se sensor ativo E sistema NÃO lotado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600200"/>
          </a:xfrm>
          <a:prstGeom prst="rect">
            <a:avLst/>
          </a:prstGeom>
          <a:solidFill>
            <a:srgbClr val="E9F7EF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60120"/>
            <a:ext cx="73152" cy="160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2 — Abertura da Saída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3752" y="13441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[sensorSaida] —| |— ( portaoSaida ) + ( CTD.CU 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73752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portão de saída e decrementa o contador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206240" cy="1600200"/>
          </a:xfrm>
          <a:prstGeom prst="rect">
            <a:avLst/>
          </a:prstGeom>
          <a:solidFill>
            <a:srgbClr val="FEF9E7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4640"/>
            <a:ext cx="73152" cy="16002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3 — Estado Lotado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218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[vagasOcupadas &gt;= totalVagas] — (SET sistemaLotado)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 entrada quando vagas cheias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206240" cy="1600200"/>
          </a:xfrm>
          <a:prstGeom prst="rect">
            <a:avLst/>
          </a:prstGeom>
          <a:solidFill>
            <a:srgbClr val="FDEDE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834640"/>
            <a:ext cx="73152" cy="1600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4 — Libera Sistema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32186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[vagasOcupadas &lt; totalVagas] — (RESET sistemaLotado)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73752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Reativa entrada quando vaga é liberada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rungs executam em loop contínuo enquanto o CLP está em modo RUN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da Automação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286000" cy="3200400"/>
          </a:xfrm>
          <a:prstGeom prst="rect">
            <a:avLst/>
          </a:prstGeom>
          <a:solidFill>
            <a:srgbClr val="EAF4FC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286000" cy="50292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(Entradas)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Sensor de presença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na entrada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Sensor de presença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na saída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514600"/>
            <a:ext cx="1097280" cy="109728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sinais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097280"/>
            <a:ext cx="2286000" cy="3200400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097280"/>
            <a:ext cx="2286000" cy="502920"/>
          </a:xfrm>
          <a:prstGeom prst="rect">
            <a:avLst/>
          </a:prstGeom>
          <a:solidFill>
            <a:srgbClr val="D4AC0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(Processamento)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16916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Lógica Ladder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Contadores CTU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Comparadores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/ RESET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514600"/>
            <a:ext cx="1097280" cy="109728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aciona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2011680" cy="3200400"/>
          </a:xfrm>
          <a:prstGeom prst="rect">
            <a:avLst/>
          </a:prstGeom>
          <a:solidFill>
            <a:srgbClr val="E9F7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097280"/>
            <a:ext cx="20116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(Saídas)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8040" y="1691640"/>
            <a:ext cx="1737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Portão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entrada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Portão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saída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Luz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lotado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scan: Ler Entradas → Executar Ladder → Atualizar Saídas (repetição contínua)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da Simulação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cenários foram testados e validados: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291840"/>
          </a:xfrm>
          <a:prstGeom prst="rect">
            <a:avLst/>
          </a:prstGeom>
          <a:solidFill>
            <a:srgbClr val="EAF4F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417320"/>
            <a:ext cx="731520" cy="7315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Normal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sensorEntrada ativado → portão abre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incrementado (+1)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disponíveis atualizadas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CORRETO 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743200" cy="3291840"/>
          </a:xfrm>
          <a:prstGeom prst="rect">
            <a:avLst/>
          </a:prstGeom>
          <a:solidFill>
            <a:srgbClr val="FDEDE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Estacionamento Lotado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veículos registrados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sensorEntrada ativado → portão NÃO abre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luzLotado permanece acesa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CORRETO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743200" cy="3291840"/>
          </a:xfrm>
          <a:prstGeom prst="rect">
            <a:avLst/>
          </a:prstGeom>
          <a:solidFill>
            <a:srgbClr val="E9F7EF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417320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Liberação de Vaga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7432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sensorSaida ativado → portão saída abre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decrementado (9 vagas)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sistemaLotado 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CORRETO 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cenários funcionaram conforme esperado — 100% de conformidade com os requisitos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96596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Vagas controladas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6596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0058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42316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Rungs Ladder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6596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058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de sistema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005840"/>
            <a:ext cx="196596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testados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Aprendizados e Limitações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8595360" cy="502920"/>
          </a:xfrm>
          <a:prstGeom prst="rect">
            <a:avLst/>
          </a:prstGeom>
          <a:solidFill>
            <a:srgbClr val="E9F7EF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54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Conquistamos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1546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sequencial funcional, uso de contadores CTU, comparadores e flags SET/RESET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solidFill>
            <a:srgbClr val="FEF9E7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Limitações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7490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Portões sem temporização automática de fechamento; entradas sem debounce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EAF4FC"/>
          </a:solidFill>
          <a:ln w="6350">
            <a:solidFill>
              <a:srgbClr val="D0D3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 Melhorias futuras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3434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Temporizadores TON para fechar portões, display de vagas, integração web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1A9AA0">
              <a:alpha val="12000"/>
            </a:srgbClr>
          </a:solidFill>
          <a:ln w="12700">
            <a:solidFill>
              <a:srgbClr val="1A9AA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1A9AA0"/>
                </a:solidFill>
                <a:latin typeface="Arial" pitchFamily="34" charset="0"/>
              </a:rPr>
              <a:t>Conclusão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A9CCE3"/>
                </a:solidFill>
                <a:latin typeface="Arial" pitchFamily="34" charset="0"/>
              </a:rPr>
              <a:t>Sistema Automatizado de Estacionamento Inteligente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200400" cy="36576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300" dirty="0">
                <a:solidFill>
                  <a:srgbClr val="FFFFFF"/>
                </a:solidFill>
                <a:latin typeface="Arial" pitchFamily="34" charset="0"/>
              </a:rPr>
              <a:t>✔  O sistema atingiu todos os requisitos funcionais propostos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300" dirty="0">
                <a:solidFill>
                  <a:srgbClr val="FFFFFF"/>
                </a:solidFill>
                <a:latin typeface="Arial" pitchFamily="34" charset="0"/>
              </a:rPr>
              <a:t>✔  A lógica Ladder mostrou-se eficaz para automação sequencial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300" dirty="0">
                <a:solidFill>
                  <a:srgbClr val="FFFFFF"/>
                </a:solidFill>
                <a:latin typeface="Arial" pitchFamily="34" charset="0"/>
              </a:rPr>
              <a:t>✔  O PLC Simulator Online foi adequado para o desenvolvimento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300" dirty="0">
                <a:solidFill>
                  <a:srgbClr val="FFFFFF"/>
                </a:solidFill>
                <a:latin typeface="Arial" pitchFamily="34" charset="0"/>
              </a:rPr>
              <a:t>✔  O projeto reforçou a compreensão de sistemas ciberfísicos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rgbClr val="FFFFFF"/>
                </a:solidFill>
                <a:latin typeface="Arial" pitchFamily="34" charset="0"/>
              </a:rPr>
              <a:t>Universidade São Judas Tadeu  |  Engenharia de Software  |  2026/1  |  Prof. Robson Calvetti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AccentStripe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A9AA0"/>
          </a:solidFill>
          <a:ln w="12700">
            <a:solidFill>
              <a:srgbClr val="1A9AA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2800" b="1" dirty="0">
                <a:solidFill>
                  <a:srgbClr val="FFFFFF"/>
                </a:solidFill>
                <a:latin typeface="Arial" pitchFamily="34" charset="0"/>
              </a:rPr>
              <a:t>Referências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pt-BR" sz="1300" b="1" dirty="0">
                <a:solidFill>
                  <a:srgbClr val="1A9AA0"/>
                </a:solidFill>
                <a:latin typeface="Arial" pitchFamily="34" charset="0"/>
              </a:rPr>
              <a:t>Fontes consultadas para o desenvolvimento do projeto</a:t>
            </a:r>
          </a:p>
        </p:txBody>
      </p:sp>
      <p:sp>
        <p:nvSpPr>
          <p:cNvPr id="6" name="RefList"/>
          <p:cNvSpPr/>
          <p:nvPr/>
        </p:nvSpPr>
        <p:spPr>
          <a:xfrm>
            <a:off x="365760" y="137160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pt-BR" sz="1050" b="1" dirty="0">
                <a:solidFill>
                  <a:srgbClr val="1B4F72"/>
                </a:solidFill>
                <a:latin typeface="Arial" pitchFamily="34" charset="0"/>
              </a:rPr>
              <a:t>[1]  PLC Simulator Online</a:t>
            </a:r>
            <a:r>
              <a:rPr lang="pt-BR" sz="1050" dirty="0">
                <a:solidFill>
                  <a:srgbClr val="444444"/>
                </a:solidFill>
                <a:latin typeface="Arial" pitchFamily="34" charset="0"/>
              </a:rPr>
              <a:t xml:space="preserve"> — Ferramenta de simulação de CLP utilizada para implementação e teste da lógica Ladder.
Disponível em: https://plcsimulator.online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50" b="1" dirty="0">
                <a:solidFill>
                  <a:srgbClr val="1B4F72"/>
                </a:solidFill>
                <a:latin typeface="Arial" pitchFamily="34" charset="0"/>
              </a:rPr>
              <a:t>[2]  NATALE, Omero.</a:t>
            </a:r>
            <a:r>
              <a:rPr lang="pt-BR" sz="1050" dirty="0">
                <a:solidFill>
                  <a:srgbClr val="444444"/>
                </a:solidFill>
                <a:latin typeface="Arial" pitchFamily="34" charset="0"/>
              </a:rPr>
              <a:t xml:space="preserve"> Automação Industrial. São Paulo: Editora Érica, 2000.
Referência sobre fundamentos de automação com CLPs e lógica Ladder.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50" b="1" dirty="0">
                <a:solidFill>
                  <a:srgbClr val="1B4F72"/>
                </a:solidFill>
                <a:latin typeface="Arial" pitchFamily="34" charset="0"/>
              </a:rPr>
              <a:t>[3]  IEC 61131-3</a:t>
            </a:r>
            <a:r>
              <a:rPr lang="pt-BR" sz="1050" dirty="0">
                <a:solidFill>
                  <a:srgbClr val="444444"/>
                </a:solidFill>
                <a:latin typeface="Arial" pitchFamily="34" charset="0"/>
              </a:rPr>
              <a:t xml:space="preserve"> — Norma internacional para linguagens de programação de CLPs,
incluindo a linguagem Ladder Diagram (LD). International Electrotechnical Commission, 2013.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50" b="1" dirty="0">
                <a:solidFill>
                  <a:srgbClr val="1B4F72"/>
                </a:solidFill>
                <a:latin typeface="Arial" pitchFamily="34" charset="0"/>
              </a:rPr>
              <a:t>[4]  GROOVER, Mikell P.</a:t>
            </a:r>
            <a:r>
              <a:rPr lang="pt-BR" sz="1050" dirty="0">
                <a:solidFill>
                  <a:srgbClr val="444444"/>
                </a:solidFill>
                <a:latin typeface="Arial" pitchFamily="34" charset="0"/>
              </a:rPr>
              <a:t xml:space="preserve"> Automação Industrial e Sistemas de Manufatura. 3. ed. São Paulo: Pearson Prentice Hall, 2011. Base conceitual para sistemas automatizados e controladores programáveis.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50" b="1" dirty="0">
                <a:solidFill>
                  <a:srgbClr val="1B4F72"/>
                </a:solidFill>
                <a:latin typeface="Arial" pitchFamily="34" charset="0"/>
              </a:rPr>
              <a:t>[5]  Material didático da disciplina</a:t>
            </a:r>
            <a:r>
              <a:rPr lang="pt-BR" sz="1050" dirty="0">
                <a:solidFill>
                  <a:srgbClr val="444444"/>
                </a:solidFill>
                <a:latin typeface="Arial" pitchFamily="34" charset="0"/>
              </a:rPr>
              <a:t xml:space="preserve"> — Sistemas Automatizados, Prof. Robson Calvetti.
Universidade São Judas Tadeu, Engenharia de Software, 2026/1.</a:t>
            </a:r>
          </a:p>
        </p:txBody>
      </p:sp>
      <p:sp>
        <p:nvSpPr>
          <p:cNvPr id="7" name="FooterBar"/>
          <p:cNvSpPr/>
          <p:nvPr/>
        </p:nvSpPr>
        <p:spPr>
          <a:xfrm>
            <a:off x="0" y="4663920"/>
            <a:ext cx="91440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FooterText"/>
          <p:cNvSpPr/>
          <p:nvPr/>
        </p:nvSpPr>
        <p:spPr>
          <a:xfrm>
            <a:off x="0" y="4663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900" dirty="0">
                <a:solidFill>
                  <a:srgbClr val="A9CCE3"/>
                </a:solidFill>
                <a:latin typeface="Arial" pitchFamily="34" charset="0"/>
              </a:rPr>
              <a:t>Universidade São Judas Tadeu  |  Engenharia de Software  |  2026/1  |  Prof. Robson Calvetti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Automatizado de Estacionamento Inteligente</dc:title>
  <dc:subject>PptxGenJS Presentation</dc:subject>
  <dc:creator>Grupo – Sistemas Automatizados USJT</dc:creator>
  <cp:lastModifiedBy>Grupo – Sistemas Automatizados USJT</cp:lastModifiedBy>
  <cp:revision>1</cp:revision>
  <dcterms:created xsi:type="dcterms:W3CDTF">2026-05-19T22:13:12Z</dcterms:created>
  <dcterms:modified xsi:type="dcterms:W3CDTF">2026-05-19T22:13:12Z</dcterms:modified>
</cp:coreProperties>
</file>